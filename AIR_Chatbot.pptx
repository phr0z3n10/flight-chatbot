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8"/>
  </p:notesMasterIdLst>
  <p:sldIdLst>
    <p:sldId id="262"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95"/>
    <p:restoredTop sz="94645"/>
  </p:normalViewPr>
  <p:slideViewPr>
    <p:cSldViewPr snapToGrid="0">
      <p:cViewPr varScale="1">
        <p:scale>
          <a:sx n="143" d="100"/>
          <a:sy n="143" d="100"/>
        </p:scale>
        <p:origin x="15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685835-8D4F-BA4D-9C23-8C460BD40683}" type="datetimeFigureOut">
              <a:rPr lang="en-US" smtClean="0"/>
              <a:t>3/26/26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10C2E-C43C-8A48-9D1E-CEDAE6CE41FD}" type="slidenum">
              <a:rPr lang="en-US" smtClean="0"/>
              <a:t>‹#›</a:t>
            </a:fld>
            <a:endParaRPr lang="en-US"/>
          </a:p>
        </p:txBody>
      </p:sp>
    </p:spTree>
    <p:extLst>
      <p:ext uri="{BB962C8B-B14F-4D97-AF65-F5344CB8AC3E}">
        <p14:creationId xmlns:p14="http://schemas.microsoft.com/office/powerpoint/2010/main" val="1357831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C10C2E-C43C-8A48-9D1E-CEDAE6CE41FD}" type="slidenum">
              <a:rPr lang="en-US" smtClean="0"/>
              <a:t>2</a:t>
            </a:fld>
            <a:endParaRPr lang="en-US"/>
          </a:p>
        </p:txBody>
      </p:sp>
    </p:spTree>
    <p:extLst>
      <p:ext uri="{BB962C8B-B14F-4D97-AF65-F5344CB8AC3E}">
        <p14:creationId xmlns:p14="http://schemas.microsoft.com/office/powerpoint/2010/main" val="2343412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56FB-E05E-443F-88A1-CFC90638997C}"/>
              </a:ext>
            </a:extLst>
          </p:cNvPr>
          <p:cNvSpPr>
            <a:spLocks noGrp="1"/>
          </p:cNvSpPr>
          <p:nvPr>
            <p:ph type="ctrTitle"/>
          </p:nvPr>
        </p:nvSpPr>
        <p:spPr>
          <a:xfrm>
            <a:off x="1084727" y="1597961"/>
            <a:ext cx="9144000" cy="31623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3C5DA97A-281B-4A77-9D2C-C5E6A860E645}"/>
              </a:ext>
            </a:extLst>
          </p:cNvPr>
          <p:cNvSpPr>
            <a:spLocks noGrp="1"/>
          </p:cNvSpPr>
          <p:nvPr>
            <p:ph type="subTitle" idx="1"/>
          </p:nvPr>
        </p:nvSpPr>
        <p:spPr>
          <a:xfrm>
            <a:off x="1084727" y="4902488"/>
            <a:ext cx="9144000" cy="985075"/>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FD7BAE-E194-4223-BB4E-5E487863F5BE}"/>
              </a:ext>
            </a:extLst>
          </p:cNvPr>
          <p:cNvSpPr>
            <a:spLocks noGrp="1"/>
          </p:cNvSpPr>
          <p:nvPr>
            <p:ph type="dt" sz="half" idx="10"/>
          </p:nvPr>
        </p:nvSpPr>
        <p:spPr/>
        <p:txBody>
          <a:bodyPr/>
          <a:lstStyle/>
          <a:p>
            <a:fld id="{8C28A28C-4C6A-46EA-90C0-4EE0B89CC5C7}" type="datetimeFigureOut">
              <a:rPr lang="en-US" smtClean="0"/>
              <a:t>3/26/26</a:t>
            </a:fld>
            <a:endParaRPr lang="en-US" dirty="0"/>
          </a:p>
        </p:txBody>
      </p:sp>
      <p:sp>
        <p:nvSpPr>
          <p:cNvPr id="5" name="Footer Placeholder 4">
            <a:extLst>
              <a:ext uri="{FF2B5EF4-FFF2-40B4-BE49-F238E27FC236}">
                <a16:creationId xmlns:a16="http://schemas.microsoft.com/office/drawing/2014/main" id="{9721F6C9-7279-4DF8-9462-3EFEFA03F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57072-0A38-49AD-8D0D-0E42DD488E4F}"/>
              </a:ext>
            </a:extLst>
          </p:cNvPr>
          <p:cNvSpPr>
            <a:spLocks noGrp="1"/>
          </p:cNvSpPr>
          <p:nvPr>
            <p:ph type="sldNum" sz="quarter" idx="12"/>
          </p:nvPr>
        </p:nvSpPr>
        <p:spPr/>
        <p:txBody>
          <a:bodyPr/>
          <a:lstStyle/>
          <a:p>
            <a:fld id="{5DEF7F31-0B8A-474A-B86C-91F381754329}" type="slidenum">
              <a:rPr lang="en-US" smtClean="0"/>
              <a:t>‹#›</a:t>
            </a:fld>
            <a:endParaRPr lang="en-US" dirty="0"/>
          </a:p>
        </p:txBody>
      </p:sp>
    </p:spTree>
    <p:extLst>
      <p:ext uri="{BB962C8B-B14F-4D97-AF65-F5344CB8AC3E}">
        <p14:creationId xmlns:p14="http://schemas.microsoft.com/office/powerpoint/2010/main" val="1858476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8199-C6CF-4DFF-A750-435F06CC7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F2D5EB-F993-411F-9DBA-971321FC0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5D216-27F9-4078-8349-ABC9F614A5E7}"/>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5" name="Footer Placeholder 4">
            <a:extLst>
              <a:ext uri="{FF2B5EF4-FFF2-40B4-BE49-F238E27FC236}">
                <a16:creationId xmlns:a16="http://schemas.microsoft.com/office/drawing/2014/main" id="{4384F8A8-FBA7-4F25-ADEA-AF346495D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609F8-5897-4724-8FA6-3EFDE8F2DD7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285077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F0C-7BA8-490D-B4C9-CCE145DCD19A}"/>
              </a:ext>
            </a:extLst>
          </p:cNvPr>
          <p:cNvSpPr>
            <a:spLocks noGrp="1"/>
          </p:cNvSpPr>
          <p:nvPr>
            <p:ph type="title"/>
          </p:nvPr>
        </p:nvSpPr>
        <p:spPr>
          <a:xfrm>
            <a:off x="1084726" y="1709738"/>
            <a:ext cx="9143999" cy="3050523"/>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290E61-B837-4BE4-9BC7-6AF706BCCA42}"/>
              </a:ext>
            </a:extLst>
          </p:cNvPr>
          <p:cNvSpPr>
            <a:spLocks noGrp="1"/>
          </p:cNvSpPr>
          <p:nvPr>
            <p:ph type="body" idx="1"/>
          </p:nvPr>
        </p:nvSpPr>
        <p:spPr>
          <a:xfrm>
            <a:off x="1084726" y="4902488"/>
            <a:ext cx="9143999" cy="985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2E15F-E46D-44C6-9FB9-07B0BC545AEF}"/>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5" name="Footer Placeholder 4">
            <a:extLst>
              <a:ext uri="{FF2B5EF4-FFF2-40B4-BE49-F238E27FC236}">
                <a16:creationId xmlns:a16="http://schemas.microsoft.com/office/drawing/2014/main" id="{2EBF6955-3667-4857-B35A-9E12F7988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4B309-D15E-4FA1-9B8D-8C1F3B56C37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924150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19AB-91F9-4F80-9B5D-2E6FE925F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19F334-D0CF-4DFD-BAA9-3ECD639B1F1E}"/>
              </a:ext>
            </a:extLst>
          </p:cNvPr>
          <p:cNvSpPr>
            <a:spLocks noGrp="1"/>
          </p:cNvSpPr>
          <p:nvPr>
            <p:ph sz="half" idx="1"/>
          </p:nvPr>
        </p:nvSpPr>
        <p:spPr>
          <a:xfrm>
            <a:off x="1077362" y="2227809"/>
            <a:ext cx="4942438" cy="3949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5E0B5D-4613-4DA7-BA20-58B19BE8A496}"/>
              </a:ext>
            </a:extLst>
          </p:cNvPr>
          <p:cNvSpPr>
            <a:spLocks noGrp="1"/>
          </p:cNvSpPr>
          <p:nvPr>
            <p:ph sz="half" idx="2"/>
          </p:nvPr>
        </p:nvSpPr>
        <p:spPr>
          <a:xfrm>
            <a:off x="6172200" y="2227809"/>
            <a:ext cx="4855265" cy="394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F311AB-0603-424D-BC42-0CEAB3562BA4}"/>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6" name="Footer Placeholder 5">
            <a:extLst>
              <a:ext uri="{FF2B5EF4-FFF2-40B4-BE49-F238E27FC236}">
                <a16:creationId xmlns:a16="http://schemas.microsoft.com/office/drawing/2014/main" id="{7A3AA2AC-0C5F-4835-BE47-D780C2989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6C54C0-DFDA-4778-9EE8-5E5C30E05412}"/>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096281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3603-5B09-4916-8324-A6BDAB4E060E}"/>
              </a:ext>
            </a:extLst>
          </p:cNvPr>
          <p:cNvSpPr>
            <a:spLocks noGrp="1"/>
          </p:cNvSpPr>
          <p:nvPr>
            <p:ph type="title"/>
          </p:nvPr>
        </p:nvSpPr>
        <p:spPr>
          <a:xfrm>
            <a:off x="1084726" y="365125"/>
            <a:ext cx="9942739"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74073C-C15B-4218-9B84-6758955176E7}"/>
              </a:ext>
            </a:extLst>
          </p:cNvPr>
          <p:cNvSpPr>
            <a:spLocks noGrp="1"/>
          </p:cNvSpPr>
          <p:nvPr>
            <p:ph type="body" idx="1"/>
          </p:nvPr>
        </p:nvSpPr>
        <p:spPr>
          <a:xfrm>
            <a:off x="1084725" y="1681163"/>
            <a:ext cx="4912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16D27-36F6-440B-A9BE-8B9499047CEF}"/>
              </a:ext>
            </a:extLst>
          </p:cNvPr>
          <p:cNvSpPr>
            <a:spLocks noGrp="1"/>
          </p:cNvSpPr>
          <p:nvPr>
            <p:ph sz="half" idx="2"/>
          </p:nvPr>
        </p:nvSpPr>
        <p:spPr>
          <a:xfrm>
            <a:off x="1084726" y="2505075"/>
            <a:ext cx="49128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C12010D-7AC4-4A70-A211-6A29274119DB}"/>
              </a:ext>
            </a:extLst>
          </p:cNvPr>
          <p:cNvSpPr>
            <a:spLocks noGrp="1"/>
          </p:cNvSpPr>
          <p:nvPr>
            <p:ph type="body" sz="quarter" idx="3"/>
          </p:nvPr>
        </p:nvSpPr>
        <p:spPr>
          <a:xfrm>
            <a:off x="6172200" y="1681163"/>
            <a:ext cx="48552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AE85B5-3350-49A4-86A1-E5DAED491624}"/>
              </a:ext>
            </a:extLst>
          </p:cNvPr>
          <p:cNvSpPr>
            <a:spLocks noGrp="1"/>
          </p:cNvSpPr>
          <p:nvPr>
            <p:ph sz="quarter" idx="4"/>
          </p:nvPr>
        </p:nvSpPr>
        <p:spPr>
          <a:xfrm>
            <a:off x="6172200" y="2505075"/>
            <a:ext cx="48552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3E874-D08B-4D81-B82D-5DF242E4A1AA}"/>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8" name="Footer Placeholder 7">
            <a:extLst>
              <a:ext uri="{FF2B5EF4-FFF2-40B4-BE49-F238E27FC236}">
                <a16:creationId xmlns:a16="http://schemas.microsoft.com/office/drawing/2014/main" id="{AE174067-0FFA-41C3-A3A6-E8907CC32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947985-FBC0-4118-8877-2E327F637DF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972061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0282-3DE7-4AB9-83AC-AFEDD22AF3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A7436C-706A-443F-86CD-4444C82818B2}"/>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4" name="Footer Placeholder 3">
            <a:extLst>
              <a:ext uri="{FF2B5EF4-FFF2-40B4-BE49-F238E27FC236}">
                <a16:creationId xmlns:a16="http://schemas.microsoft.com/office/drawing/2014/main" id="{09B53292-7EA5-45D0-957F-636A44FC06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76F59D-34BB-462C-B506-040B9E982FCB}"/>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61356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E55245-AB52-41B4-9B28-55E6527DA2F8}"/>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3" name="Footer Placeholder 2">
            <a:extLst>
              <a:ext uri="{FF2B5EF4-FFF2-40B4-BE49-F238E27FC236}">
                <a16:creationId xmlns:a16="http://schemas.microsoft.com/office/drawing/2014/main" id="{CA73B8AE-58B0-4FDF-8430-9D8D3DD537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9E4D91-8619-43C1-841B-B5F47DE0173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94979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A660-DF93-4947-B93F-BF118D3B5F80}"/>
              </a:ext>
            </a:extLst>
          </p:cNvPr>
          <p:cNvSpPr>
            <a:spLocks noGrp="1"/>
          </p:cNvSpPr>
          <p:nvPr>
            <p:ph type="title"/>
          </p:nvPr>
        </p:nvSpPr>
        <p:spPr>
          <a:xfrm>
            <a:off x="1084727" y="457200"/>
            <a:ext cx="3687298"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2F0292E-B3E1-4FD6-A7FA-C165BAC21C28}"/>
              </a:ext>
            </a:extLst>
          </p:cNvPr>
          <p:cNvSpPr>
            <a:spLocks noGrp="1"/>
          </p:cNvSpPr>
          <p:nvPr>
            <p:ph idx="1"/>
          </p:nvPr>
        </p:nvSpPr>
        <p:spPr>
          <a:xfrm>
            <a:off x="5183188" y="987425"/>
            <a:ext cx="5844277"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EFB0ECC-817B-4A71-AFB5-FC60A2BC3ABC}"/>
              </a:ext>
            </a:extLst>
          </p:cNvPr>
          <p:cNvSpPr>
            <a:spLocks noGrp="1"/>
          </p:cNvSpPr>
          <p:nvPr>
            <p:ph type="body" sz="half" idx="2"/>
          </p:nvPr>
        </p:nvSpPr>
        <p:spPr>
          <a:xfrm>
            <a:off x="1084727" y="2253343"/>
            <a:ext cx="3687298" cy="3615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788E0B-6135-4F59-A35A-2CA1A8BA4ED2}"/>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6" name="Footer Placeholder 5">
            <a:extLst>
              <a:ext uri="{FF2B5EF4-FFF2-40B4-BE49-F238E27FC236}">
                <a16:creationId xmlns:a16="http://schemas.microsoft.com/office/drawing/2014/main" id="{FD0DEF36-4037-4E6D-988F-CC8E3F11C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C0D2D-D878-4723-A002-5A601EFB48A0}"/>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31049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59D5-B8A1-4C9C-A61F-E082A44330BB}"/>
              </a:ext>
            </a:extLst>
          </p:cNvPr>
          <p:cNvSpPr>
            <a:spLocks noGrp="1"/>
          </p:cNvSpPr>
          <p:nvPr>
            <p:ph type="title"/>
          </p:nvPr>
        </p:nvSpPr>
        <p:spPr>
          <a:xfrm>
            <a:off x="1084727" y="720433"/>
            <a:ext cx="3687298" cy="1587337"/>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4CB4F5F-E6E7-45C3-B35C-80F81FB1A5E8}"/>
              </a:ext>
            </a:extLst>
          </p:cNvPr>
          <p:cNvSpPr>
            <a:spLocks noGrp="1"/>
          </p:cNvSpPr>
          <p:nvPr>
            <p:ph type="pic" idx="1"/>
          </p:nvPr>
        </p:nvSpPr>
        <p:spPr>
          <a:xfrm>
            <a:off x="5183188" y="987425"/>
            <a:ext cx="58277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33AB7-4F8E-4A9F-AC15-89E6A6E00347}"/>
              </a:ext>
            </a:extLst>
          </p:cNvPr>
          <p:cNvSpPr>
            <a:spLocks noGrp="1"/>
          </p:cNvSpPr>
          <p:nvPr>
            <p:ph type="body" sz="half" idx="2"/>
          </p:nvPr>
        </p:nvSpPr>
        <p:spPr>
          <a:xfrm>
            <a:off x="1084727" y="2449286"/>
            <a:ext cx="3687298" cy="3419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074B526-866D-4E11-A7F9-081BD4EDF484}"/>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6" name="Footer Placeholder 5">
            <a:extLst>
              <a:ext uri="{FF2B5EF4-FFF2-40B4-BE49-F238E27FC236}">
                <a16:creationId xmlns:a16="http://schemas.microsoft.com/office/drawing/2014/main" id="{CD758BF8-E962-4367-8495-62438FDD4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C20AE1-C97D-4E6C-9DB2-B2904C2CF247}"/>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9841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9E81-5CFF-4A28-B9C8-5D54E51DF202}"/>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58A4CC8-DCB0-4E94-98A7-236E3D186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1F802-21C2-44B2-A419-55469D826571}"/>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5" name="Footer Placeholder 4">
            <a:extLst>
              <a:ext uri="{FF2B5EF4-FFF2-40B4-BE49-F238E27FC236}">
                <a16:creationId xmlns:a16="http://schemas.microsoft.com/office/drawing/2014/main" id="{84BDB709-08FF-4C4A-8670-4CCA9146F9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95375-1CC8-4950-8439-877451C4266D}"/>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78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8BDF0-A155-454D-B3E2-AD15D0905A62}"/>
              </a:ext>
            </a:extLst>
          </p:cNvPr>
          <p:cNvSpPr>
            <a:spLocks noGrp="1"/>
          </p:cNvSpPr>
          <p:nvPr>
            <p:ph type="title" orient="vert"/>
          </p:nvPr>
        </p:nvSpPr>
        <p:spPr>
          <a:xfrm>
            <a:off x="9073242" y="827313"/>
            <a:ext cx="2280557" cy="5061857"/>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7244E0D-96EC-4B35-BA5C-5DAFCC7281AE}"/>
              </a:ext>
            </a:extLst>
          </p:cNvPr>
          <p:cNvSpPr>
            <a:spLocks noGrp="1"/>
          </p:cNvSpPr>
          <p:nvPr>
            <p:ph type="body" orient="vert" idx="1"/>
          </p:nvPr>
        </p:nvSpPr>
        <p:spPr>
          <a:xfrm>
            <a:off x="838200" y="827313"/>
            <a:ext cx="8115300" cy="50618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3ADC4E-9FB1-439F-B0FB-47F47B3421A7}"/>
              </a:ext>
            </a:extLst>
          </p:cNvPr>
          <p:cNvSpPr>
            <a:spLocks noGrp="1"/>
          </p:cNvSpPr>
          <p:nvPr>
            <p:ph type="dt" sz="half" idx="10"/>
          </p:nvPr>
        </p:nvSpPr>
        <p:spPr/>
        <p:txBody>
          <a:bodyPr/>
          <a:lstStyle/>
          <a:p>
            <a:fld id="{8C28A28C-4C6A-46EA-90C0-4EE0B89CC5C7}" type="datetimeFigureOut">
              <a:rPr lang="en-US" smtClean="0"/>
              <a:t>3/26/26</a:t>
            </a:fld>
            <a:endParaRPr lang="en-US"/>
          </a:p>
        </p:txBody>
      </p:sp>
      <p:sp>
        <p:nvSpPr>
          <p:cNvPr id="5" name="Footer Placeholder 4">
            <a:extLst>
              <a:ext uri="{FF2B5EF4-FFF2-40B4-BE49-F238E27FC236}">
                <a16:creationId xmlns:a16="http://schemas.microsoft.com/office/drawing/2014/main" id="{637EE406-061A-4440-BA75-3B684FC84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6D93CF-F5F3-4897-A51E-47D577FDD344}"/>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76259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192E3E-68A9-4F36-936C-1C8D0B9EF132}"/>
              </a:ext>
            </a:extLst>
          </p:cNvPr>
          <p:cNvSpPr/>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3F214EB0-7E6D-4536-9350-5CB688B56F26}"/>
              </a:ext>
            </a:extLst>
          </p:cNvPr>
          <p:cNvSpPr>
            <a:spLocks noGrp="1"/>
          </p:cNvSpPr>
          <p:nvPr>
            <p:ph type="title"/>
          </p:nvPr>
        </p:nvSpPr>
        <p:spPr>
          <a:xfrm>
            <a:off x="1077362" y="720434"/>
            <a:ext cx="9950103" cy="150737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BF5455E-4725-4924-BF7D-2E1FC9E391F8}"/>
              </a:ext>
            </a:extLst>
          </p:cNvPr>
          <p:cNvSpPr>
            <a:spLocks noGrp="1"/>
          </p:cNvSpPr>
          <p:nvPr>
            <p:ph type="body" idx="1"/>
          </p:nvPr>
        </p:nvSpPr>
        <p:spPr>
          <a:xfrm>
            <a:off x="1077362" y="2427316"/>
            <a:ext cx="9950103" cy="35135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2CAD9D9-1A1D-4438-9F3D-E5E58FD72F1F}"/>
              </a:ext>
            </a:extLst>
          </p:cNvPr>
          <p:cNvSpPr>
            <a:spLocks noGrp="1"/>
          </p:cNvSpPr>
          <p:nvPr>
            <p:ph type="dt" sz="half" idx="2"/>
          </p:nvPr>
        </p:nvSpPr>
        <p:spPr>
          <a:xfrm>
            <a:off x="9243751" y="6356350"/>
            <a:ext cx="2296603" cy="365125"/>
          </a:xfrm>
          <a:prstGeom prst="rect">
            <a:avLst/>
          </a:prstGeom>
        </p:spPr>
        <p:txBody>
          <a:bodyPr vert="horz" lIns="91440" tIns="45720" rIns="91440" bIns="45720" rtlCol="0" anchor="ctr"/>
          <a:lstStyle>
            <a:lvl1pPr algn="r">
              <a:defRPr sz="900">
                <a:solidFill>
                  <a:schemeClr val="bg1"/>
                </a:solidFill>
              </a:defRPr>
            </a:lvl1pPr>
          </a:lstStyle>
          <a:p>
            <a:fld id="{8C28A28C-4C6A-46EA-90C0-4EE0B89CC5C7}" type="datetimeFigureOut">
              <a:rPr lang="en-US" smtClean="0"/>
              <a:pPr/>
              <a:t>3/26/26</a:t>
            </a:fld>
            <a:endParaRPr lang="en-US" dirty="0"/>
          </a:p>
        </p:txBody>
      </p:sp>
      <p:sp>
        <p:nvSpPr>
          <p:cNvPr id="5" name="Footer Placeholder 4">
            <a:extLst>
              <a:ext uri="{FF2B5EF4-FFF2-40B4-BE49-F238E27FC236}">
                <a16:creationId xmlns:a16="http://schemas.microsoft.com/office/drawing/2014/main" id="{AE80A827-D7BF-4CA4-8C29-5AE54ADA4787}"/>
              </a:ext>
            </a:extLst>
          </p:cNvPr>
          <p:cNvSpPr>
            <a:spLocks noGrp="1"/>
          </p:cNvSpPr>
          <p:nvPr>
            <p:ph type="ftr" sz="quarter" idx="3"/>
          </p:nvPr>
        </p:nvSpPr>
        <p:spPr>
          <a:xfrm rot="5400000">
            <a:off x="-1610380" y="1926575"/>
            <a:ext cx="3830351"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06717188-1DE1-4DA5-8161-21179E4ADEAE}"/>
              </a:ext>
            </a:extLst>
          </p:cNvPr>
          <p:cNvSpPr>
            <a:spLocks noGrp="1"/>
          </p:cNvSpPr>
          <p:nvPr>
            <p:ph type="sldNum" sz="quarter" idx="4"/>
          </p:nvPr>
        </p:nvSpPr>
        <p:spPr>
          <a:xfrm>
            <a:off x="11540355" y="6356350"/>
            <a:ext cx="410973" cy="365125"/>
          </a:xfrm>
          <a:prstGeom prst="rect">
            <a:avLst/>
          </a:prstGeom>
        </p:spPr>
        <p:txBody>
          <a:bodyPr vert="horz" lIns="91440" tIns="45720" rIns="91440" bIns="45720" rtlCol="0" anchor="ctr"/>
          <a:lstStyle>
            <a:lvl1pPr algn="r">
              <a:defRPr sz="900">
                <a:solidFill>
                  <a:schemeClr val="bg1"/>
                </a:solidFill>
              </a:defRPr>
            </a:lvl1pPr>
          </a:lstStyle>
          <a:p>
            <a:fld id="{5DEF7F31-0B8A-474A-B86C-91F381754329}" type="slidenum">
              <a:rPr lang="en-US" smtClean="0"/>
              <a:pPr/>
              <a:t>‹#›</a:t>
            </a:fld>
            <a:endParaRPr lang="en-US" dirty="0"/>
          </a:p>
        </p:txBody>
      </p:sp>
    </p:spTree>
    <p:extLst>
      <p:ext uri="{BB962C8B-B14F-4D97-AF65-F5344CB8AC3E}">
        <p14:creationId xmlns:p14="http://schemas.microsoft.com/office/powerpoint/2010/main" val="211478797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110000"/>
        </a:lnSpc>
        <a:spcBef>
          <a:spcPct val="0"/>
        </a:spcBef>
        <a:buNone/>
        <a:defRPr sz="3200" b="1" kern="120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94360"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hyperlink" Target="https://flight-chatbot-pbnw5jhbdevjvvwhnsd7vk.streamlit.ap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F2BB15-E956-4E1B-8856-E58CE383D6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627D4-322E-4F17-9FD9-0C0E81ECE105}"/>
              </a:ext>
            </a:extLst>
          </p:cNvPr>
          <p:cNvSpPr>
            <a:spLocks noGrp="1"/>
          </p:cNvSpPr>
          <p:nvPr>
            <p:ph type="ctrTitle"/>
          </p:nvPr>
        </p:nvSpPr>
        <p:spPr>
          <a:xfrm>
            <a:off x="1742037" y="4111201"/>
            <a:ext cx="8657450" cy="1124073"/>
          </a:xfrm>
        </p:spPr>
        <p:txBody>
          <a:bodyPr anchor="b">
            <a:normAutofit/>
          </a:bodyPr>
          <a:lstStyle/>
          <a:p>
            <a:r>
              <a:rPr lang="en-US" dirty="0"/>
              <a:t>Flight Information Chatbot</a:t>
            </a:r>
          </a:p>
        </p:txBody>
      </p:sp>
      <p:sp>
        <p:nvSpPr>
          <p:cNvPr id="3" name="Subtitle 2">
            <a:extLst>
              <a:ext uri="{FF2B5EF4-FFF2-40B4-BE49-F238E27FC236}">
                <a16:creationId xmlns:a16="http://schemas.microsoft.com/office/drawing/2014/main" id="{DC770748-37A9-EBC0-534B-582A49FA96F6}"/>
              </a:ext>
            </a:extLst>
          </p:cNvPr>
          <p:cNvSpPr>
            <a:spLocks noGrp="1"/>
          </p:cNvSpPr>
          <p:nvPr>
            <p:ph type="subTitle" idx="1"/>
          </p:nvPr>
        </p:nvSpPr>
        <p:spPr>
          <a:xfrm>
            <a:off x="1742037" y="5371799"/>
            <a:ext cx="8657450" cy="672217"/>
          </a:xfrm>
        </p:spPr>
        <p:txBody>
          <a:bodyPr>
            <a:normAutofit/>
          </a:bodyPr>
          <a:lstStyle/>
          <a:p>
            <a:r>
              <a:rPr lang="en-US" dirty="0"/>
              <a:t>By DeBoris Leonard</a:t>
            </a:r>
          </a:p>
        </p:txBody>
      </p:sp>
      <p:sp>
        <p:nvSpPr>
          <p:cNvPr id="29" name="Rectangle 28">
            <a:extLst>
              <a:ext uri="{FF2B5EF4-FFF2-40B4-BE49-F238E27FC236}">
                <a16:creationId xmlns:a16="http://schemas.microsoft.com/office/drawing/2014/main" id="{4D1D6B41-589D-4DD8-9A1B-34C4CF076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9" y="-3511"/>
            <a:ext cx="3483870" cy="3428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1" name="Freeform: Shape 30">
            <a:extLst>
              <a:ext uri="{FF2B5EF4-FFF2-40B4-BE49-F238E27FC236}">
                <a16:creationId xmlns:a16="http://schemas.microsoft.com/office/drawing/2014/main" id="{34DE5AE7-857F-451C-9109-8E769DD8B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795" y="-3512"/>
            <a:ext cx="3483870" cy="3428999"/>
          </a:xfrm>
          <a:custGeom>
            <a:avLst/>
            <a:gdLst>
              <a:gd name="connsiteX0" fmla="*/ 0 w 2559050"/>
              <a:gd name="connsiteY0" fmla="*/ 0 h 2559050"/>
              <a:gd name="connsiteX1" fmla="*/ 2559050 w 2559050"/>
              <a:gd name="connsiteY1" fmla="*/ 0 h 2559050"/>
              <a:gd name="connsiteX2" fmla="*/ 0 w 2559050"/>
              <a:gd name="connsiteY2" fmla="*/ 2559050 h 2559050"/>
            </a:gdLst>
            <a:ahLst/>
            <a:cxnLst>
              <a:cxn ang="0">
                <a:pos x="connsiteX0" y="connsiteY0"/>
              </a:cxn>
              <a:cxn ang="0">
                <a:pos x="connsiteX1" y="connsiteY1"/>
              </a:cxn>
              <a:cxn ang="0">
                <a:pos x="connsiteX2" y="connsiteY2"/>
              </a:cxn>
            </a:cxnLst>
            <a:rect l="l" t="t" r="r" b="b"/>
            <a:pathLst>
              <a:path w="2559050" h="2559050">
                <a:moveTo>
                  <a:pt x="0" y="0"/>
                </a:moveTo>
                <a:lnTo>
                  <a:pt x="2559050" y="0"/>
                </a:lnTo>
                <a:cubicBezTo>
                  <a:pt x="2559050" y="1413324"/>
                  <a:pt x="1413324" y="2559050"/>
                  <a:pt x="0" y="2559050"/>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a:solidFill>
                <a:schemeClr val="tx1"/>
              </a:solidFill>
            </a:endParaRPr>
          </a:p>
        </p:txBody>
      </p:sp>
      <p:sp>
        <p:nvSpPr>
          <p:cNvPr id="33" name="Rectangle 32">
            <a:extLst>
              <a:ext uri="{FF2B5EF4-FFF2-40B4-BE49-F238E27FC236}">
                <a16:creationId xmlns:a16="http://schemas.microsoft.com/office/drawing/2014/main" id="{149242FD-4377-490B-A131-331BA6EA4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919" y="-3511"/>
            <a:ext cx="5300106" cy="342899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6AC421C-8447-4E11-9EA2-4BB7FEBFAE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5345257" y="-7746"/>
            <a:ext cx="3428999" cy="3432538"/>
          </a:xfrm>
          <a:custGeom>
            <a:avLst/>
            <a:gdLst>
              <a:gd name="connsiteX0" fmla="*/ 0 w 3484819"/>
              <a:gd name="connsiteY0" fmla="*/ 0 h 3430264"/>
              <a:gd name="connsiteX1" fmla="*/ 3484819 w 3484819"/>
              <a:gd name="connsiteY1" fmla="*/ 0 h 3430264"/>
              <a:gd name="connsiteX2" fmla="*/ 3484819 w 3484819"/>
              <a:gd name="connsiteY2" fmla="*/ 3430264 h 3430264"/>
              <a:gd name="connsiteX3" fmla="*/ 0 w 3484819"/>
              <a:gd name="connsiteY3" fmla="*/ 3430264 h 3430264"/>
              <a:gd name="connsiteX4" fmla="*/ 0 w 3484819"/>
              <a:gd name="connsiteY4" fmla="*/ 0 h 3430264"/>
              <a:gd name="connsiteX0" fmla="*/ 0 w 3484819"/>
              <a:gd name="connsiteY0" fmla="*/ 0 h 3430264"/>
              <a:gd name="connsiteX1" fmla="*/ 3484819 w 3484819"/>
              <a:gd name="connsiteY1" fmla="*/ 0 h 3430264"/>
              <a:gd name="connsiteX2" fmla="*/ 0 w 3484819"/>
              <a:gd name="connsiteY2" fmla="*/ 3430264 h 3430264"/>
              <a:gd name="connsiteX3" fmla="*/ 0 w 3484819"/>
              <a:gd name="connsiteY3" fmla="*/ 0 h 3430264"/>
            </a:gdLst>
            <a:ahLst/>
            <a:cxnLst>
              <a:cxn ang="0">
                <a:pos x="connsiteX0" y="connsiteY0"/>
              </a:cxn>
              <a:cxn ang="0">
                <a:pos x="connsiteX1" y="connsiteY1"/>
              </a:cxn>
              <a:cxn ang="0">
                <a:pos x="connsiteX2" y="connsiteY2"/>
              </a:cxn>
              <a:cxn ang="0">
                <a:pos x="connsiteX3" y="connsiteY3"/>
              </a:cxn>
            </a:cxnLst>
            <a:rect l="l" t="t" r="r" b="b"/>
            <a:pathLst>
              <a:path w="3484819" h="3430264">
                <a:moveTo>
                  <a:pt x="0" y="0"/>
                </a:moveTo>
                <a:lnTo>
                  <a:pt x="3484819" y="0"/>
                </a:lnTo>
                <a:lnTo>
                  <a:pt x="0" y="343026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8B980D2B-D97E-43D6-BC44-888BC8C79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6026" y="-3511"/>
            <a:ext cx="3417366" cy="3428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B3A67864-A19B-4023-B8C3-DAA4CC696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777491" y="-8442"/>
            <a:ext cx="3414434" cy="3434004"/>
          </a:xfrm>
          <a:custGeom>
            <a:avLst/>
            <a:gdLst>
              <a:gd name="connsiteX0" fmla="*/ 0 w 2559050"/>
              <a:gd name="connsiteY0" fmla="*/ 0 h 2559050"/>
              <a:gd name="connsiteX1" fmla="*/ 2559050 w 2559050"/>
              <a:gd name="connsiteY1" fmla="*/ 0 h 2559050"/>
              <a:gd name="connsiteX2" fmla="*/ 0 w 2559050"/>
              <a:gd name="connsiteY2" fmla="*/ 2559050 h 2559050"/>
            </a:gdLst>
            <a:ahLst/>
            <a:cxnLst>
              <a:cxn ang="0">
                <a:pos x="connsiteX0" y="connsiteY0"/>
              </a:cxn>
              <a:cxn ang="0">
                <a:pos x="connsiteX1" y="connsiteY1"/>
              </a:cxn>
              <a:cxn ang="0">
                <a:pos x="connsiteX2" y="connsiteY2"/>
              </a:cxn>
            </a:cxnLst>
            <a:rect l="l" t="t" r="r" b="b"/>
            <a:pathLst>
              <a:path w="2559050" h="2559050">
                <a:moveTo>
                  <a:pt x="0" y="0"/>
                </a:moveTo>
                <a:lnTo>
                  <a:pt x="2559050" y="0"/>
                </a:lnTo>
                <a:cubicBezTo>
                  <a:pt x="2559050" y="1413324"/>
                  <a:pt x="1413324" y="2559050"/>
                  <a:pt x="0" y="255905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910700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AE192E3E-68A9-4F36-936C-1C8D0B9EF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6" name="Rectangle 25">
            <a:extLst>
              <a:ext uri="{FF2B5EF4-FFF2-40B4-BE49-F238E27FC236}">
                <a16:creationId xmlns:a16="http://schemas.microsoft.com/office/drawing/2014/main" id="{DA1766D0-745A-4921-A68E-56642A650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5F0A4D-60B1-D35B-D1BF-D4DEFEF02EA8}"/>
              </a:ext>
            </a:extLst>
          </p:cNvPr>
          <p:cNvSpPr>
            <a:spLocks noGrp="1"/>
          </p:cNvSpPr>
          <p:nvPr>
            <p:ph type="title"/>
          </p:nvPr>
        </p:nvSpPr>
        <p:spPr>
          <a:xfrm>
            <a:off x="1077364" y="720435"/>
            <a:ext cx="4140096" cy="1507375"/>
          </a:xfrm>
        </p:spPr>
        <p:txBody>
          <a:bodyPr vert="horz" lIns="91440" tIns="45720" rIns="91440" bIns="45720" rtlCol="0" anchor="b">
            <a:normAutofit/>
          </a:bodyPr>
          <a:lstStyle/>
          <a:p>
            <a:pPr>
              <a:lnSpc>
                <a:spcPct val="100000"/>
              </a:lnSpc>
            </a:pPr>
            <a:r>
              <a:rPr lang="en-US" sz="3000" b="1" kern="1200" dirty="0">
                <a:solidFill>
                  <a:schemeClr val="tx1"/>
                </a:solidFill>
                <a:effectLst/>
                <a:latin typeface="+mj-lt"/>
                <a:ea typeface="+mj-ea"/>
                <a:cs typeface="+mj-cs"/>
              </a:rPr>
              <a:t>What is Natural Language Processing (NLP)?</a:t>
            </a:r>
          </a:p>
        </p:txBody>
      </p:sp>
      <p:sp>
        <p:nvSpPr>
          <p:cNvPr id="3" name="TextBox 2">
            <a:extLst>
              <a:ext uri="{FF2B5EF4-FFF2-40B4-BE49-F238E27FC236}">
                <a16:creationId xmlns:a16="http://schemas.microsoft.com/office/drawing/2014/main" id="{8F2EBE35-17EE-2E6A-5494-66348BFF12EC}"/>
              </a:ext>
            </a:extLst>
          </p:cNvPr>
          <p:cNvSpPr txBox="1"/>
          <p:nvPr/>
        </p:nvSpPr>
        <p:spPr>
          <a:xfrm>
            <a:off x="1077364" y="2427316"/>
            <a:ext cx="4140096" cy="3513514"/>
          </a:xfrm>
          <a:prstGeom prst="rect">
            <a:avLst/>
          </a:prstGeom>
        </p:spPr>
        <p:txBody>
          <a:bodyPr vert="horz" lIns="91440" tIns="45720" rIns="91440" bIns="45720" rtlCol="0">
            <a:normAutofit fontScale="85000" lnSpcReduction="20000"/>
          </a:bodyPr>
          <a:lstStyle/>
          <a:p>
            <a:pPr>
              <a:lnSpc>
                <a:spcPct val="110000"/>
              </a:lnSpc>
              <a:spcAft>
                <a:spcPts val="600"/>
              </a:spcAft>
            </a:pPr>
            <a:r>
              <a:rPr lang="en-US" sz="1500" dirty="0"/>
              <a:t>Natural Language Processing allows computers to interpret human communication and generate responses in a similar manner as humans would. </a:t>
            </a:r>
          </a:p>
          <a:p>
            <a:pPr>
              <a:lnSpc>
                <a:spcPct val="110000"/>
              </a:lnSpc>
              <a:spcAft>
                <a:spcPts val="600"/>
              </a:spcAft>
            </a:pPr>
            <a:endParaRPr lang="en-US" sz="1500" dirty="0"/>
          </a:p>
          <a:p>
            <a:pPr>
              <a:lnSpc>
                <a:spcPct val="110000"/>
              </a:lnSpc>
              <a:spcAft>
                <a:spcPts val="600"/>
              </a:spcAft>
            </a:pPr>
            <a:r>
              <a:rPr lang="en-US" sz="1500" b="1" u="sng" dirty="0"/>
              <a:t>Two Main Components:</a:t>
            </a:r>
          </a:p>
          <a:p>
            <a:pPr>
              <a:lnSpc>
                <a:spcPct val="110000"/>
              </a:lnSpc>
              <a:spcAft>
                <a:spcPts val="600"/>
              </a:spcAft>
            </a:pPr>
            <a:r>
              <a:rPr lang="en-US" sz="1500" dirty="0"/>
              <a:t>Natural Language Understanding (</a:t>
            </a:r>
            <a:r>
              <a:rPr lang="en-US" sz="1500" b="1" dirty="0"/>
              <a:t>NLU</a:t>
            </a:r>
            <a:r>
              <a:rPr lang="en-US" sz="1500" dirty="0"/>
              <a:t>) – inference, sentiment, intent, context, etc.</a:t>
            </a:r>
          </a:p>
          <a:p>
            <a:pPr>
              <a:lnSpc>
                <a:spcPct val="110000"/>
              </a:lnSpc>
              <a:spcAft>
                <a:spcPts val="600"/>
              </a:spcAft>
            </a:pPr>
            <a:r>
              <a:rPr lang="en-US" sz="1500" dirty="0"/>
              <a:t>Natural Language Generation (</a:t>
            </a:r>
            <a:r>
              <a:rPr lang="en-US" sz="1500" b="1" dirty="0"/>
              <a:t>NLG</a:t>
            </a:r>
            <a:r>
              <a:rPr lang="en-US" sz="1500" dirty="0"/>
              <a:t>)- output from the NLU</a:t>
            </a:r>
          </a:p>
          <a:p>
            <a:pPr>
              <a:lnSpc>
                <a:spcPct val="110000"/>
              </a:lnSpc>
              <a:spcAft>
                <a:spcPts val="600"/>
              </a:spcAft>
            </a:pPr>
            <a:endParaRPr lang="en-US" sz="1500" b="1" u="sng" dirty="0"/>
          </a:p>
          <a:p>
            <a:pPr>
              <a:lnSpc>
                <a:spcPct val="110000"/>
              </a:lnSpc>
              <a:spcAft>
                <a:spcPts val="600"/>
              </a:spcAft>
            </a:pPr>
            <a:r>
              <a:rPr lang="en-US" sz="1500" b="1" u="sng" dirty="0"/>
              <a:t>Architecture:</a:t>
            </a:r>
          </a:p>
          <a:p>
            <a:pPr>
              <a:lnSpc>
                <a:spcPct val="110000"/>
              </a:lnSpc>
              <a:spcAft>
                <a:spcPts val="600"/>
              </a:spcAft>
            </a:pPr>
            <a:r>
              <a:rPr lang="en-US" sz="1500" dirty="0"/>
              <a:t>Rules based – Older</a:t>
            </a:r>
          </a:p>
          <a:p>
            <a:pPr>
              <a:lnSpc>
                <a:spcPct val="110000"/>
              </a:lnSpc>
              <a:spcAft>
                <a:spcPts val="600"/>
              </a:spcAft>
            </a:pPr>
            <a:r>
              <a:rPr lang="en-US" sz="1500" dirty="0"/>
              <a:t>Neural Networks – former standard</a:t>
            </a:r>
          </a:p>
          <a:p>
            <a:pPr>
              <a:lnSpc>
                <a:spcPct val="110000"/>
              </a:lnSpc>
              <a:spcAft>
                <a:spcPts val="600"/>
              </a:spcAft>
            </a:pPr>
            <a:r>
              <a:rPr lang="en-US" sz="1500" dirty="0"/>
              <a:t>Transformer – Popular</a:t>
            </a:r>
          </a:p>
          <a:p>
            <a:pPr>
              <a:lnSpc>
                <a:spcPct val="110000"/>
              </a:lnSpc>
              <a:spcAft>
                <a:spcPts val="600"/>
              </a:spcAft>
            </a:pPr>
            <a:endParaRPr lang="en-US" sz="1500" dirty="0"/>
          </a:p>
          <a:p>
            <a:pPr>
              <a:lnSpc>
                <a:spcPct val="110000"/>
              </a:lnSpc>
              <a:spcAft>
                <a:spcPts val="600"/>
              </a:spcAft>
            </a:pPr>
            <a:endParaRPr lang="en-US" sz="1500" dirty="0"/>
          </a:p>
        </p:txBody>
      </p:sp>
      <p:sp>
        <p:nvSpPr>
          <p:cNvPr id="28" name="Freeform: Shape 27">
            <a:extLst>
              <a:ext uri="{FF2B5EF4-FFF2-40B4-BE49-F238E27FC236}">
                <a16:creationId xmlns:a16="http://schemas.microsoft.com/office/drawing/2014/main" id="{583F1E3F-D7BF-4DB5-8016-70B9E385E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94726" y="-906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DD0D3E7A-8DF6-4A78-A03C-86AD69746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7088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Graphic 18" descr="Artificial Intelligence with solid fill">
            <a:extLst>
              <a:ext uri="{FF2B5EF4-FFF2-40B4-BE49-F238E27FC236}">
                <a16:creationId xmlns:a16="http://schemas.microsoft.com/office/drawing/2014/main" id="{A4C0204A-0DCF-40F3-727B-72CE3DF2C09A}"/>
              </a:ext>
            </a:extLst>
          </p:cNvPr>
          <p:cNvPicPr>
            <a:picLocks noChangeAspect="1"/>
          </p:cNvPicPr>
          <p:nvPr/>
        </p:nvPicPr>
        <p:blipFill>
          <a:blip>
            <a:extLst>
              <a:ext uri="{96DAC541-7B7A-43D3-8B79-37D633B846F1}">
                <asvg:svgBlip xmlns:asvg="http://schemas.microsoft.com/office/drawing/2016/SVG/main"/>
              </a:ext>
            </a:extLst>
          </a:blip>
          <a:stretch>
            <a:fillRect/>
          </a:stretch>
        </p:blipFill>
        <p:spPr>
          <a:xfrm>
            <a:off x="6146464" y="1034569"/>
            <a:ext cx="4788861" cy="4788861"/>
          </a:xfrm>
          <a:prstGeom prst="rect">
            <a:avLst/>
          </a:prstGeom>
        </p:spPr>
      </p:pic>
    </p:spTree>
    <p:extLst>
      <p:ext uri="{BB962C8B-B14F-4D97-AF65-F5344CB8AC3E}">
        <p14:creationId xmlns:p14="http://schemas.microsoft.com/office/powerpoint/2010/main" val="3726489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AE192E3E-68A9-4F36-936C-1C8D0B9EF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8" name="Rectangle 17">
            <a:extLst>
              <a:ext uri="{FF2B5EF4-FFF2-40B4-BE49-F238E27FC236}">
                <a16:creationId xmlns:a16="http://schemas.microsoft.com/office/drawing/2014/main" id="{DA1766D0-745A-4921-A68E-56642A650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FA33C-CAE8-1B82-FFD4-8BEC2A972A2C}"/>
              </a:ext>
            </a:extLst>
          </p:cNvPr>
          <p:cNvSpPr>
            <a:spLocks noGrp="1"/>
          </p:cNvSpPr>
          <p:nvPr>
            <p:ph type="title"/>
          </p:nvPr>
        </p:nvSpPr>
        <p:spPr>
          <a:xfrm>
            <a:off x="1077364" y="720435"/>
            <a:ext cx="4140096" cy="1507375"/>
          </a:xfrm>
        </p:spPr>
        <p:txBody>
          <a:bodyPr vert="horz" lIns="91440" tIns="45720" rIns="91440" bIns="45720" rtlCol="0" anchor="b">
            <a:normAutofit/>
          </a:bodyPr>
          <a:lstStyle/>
          <a:p>
            <a:pPr>
              <a:lnSpc>
                <a:spcPct val="100000"/>
              </a:lnSpc>
            </a:pPr>
            <a:r>
              <a:rPr lang="en-US" sz="3000" b="1" kern="1200">
                <a:solidFill>
                  <a:schemeClr val="tx1"/>
                </a:solidFill>
                <a:effectLst/>
                <a:latin typeface="+mj-lt"/>
                <a:ea typeface="+mj-ea"/>
                <a:cs typeface="+mj-cs"/>
              </a:rPr>
              <a:t>What are Large Language Models (LLMs)?</a:t>
            </a:r>
          </a:p>
        </p:txBody>
      </p:sp>
      <p:sp>
        <p:nvSpPr>
          <p:cNvPr id="3" name="TextBox 2">
            <a:extLst>
              <a:ext uri="{FF2B5EF4-FFF2-40B4-BE49-F238E27FC236}">
                <a16:creationId xmlns:a16="http://schemas.microsoft.com/office/drawing/2014/main" id="{4E98BCBA-7DB0-0EAD-D55C-2426E32952C5}"/>
              </a:ext>
            </a:extLst>
          </p:cNvPr>
          <p:cNvSpPr txBox="1"/>
          <p:nvPr/>
        </p:nvSpPr>
        <p:spPr>
          <a:xfrm>
            <a:off x="1077364" y="2427316"/>
            <a:ext cx="4140096" cy="3513514"/>
          </a:xfrm>
          <a:prstGeom prst="rect">
            <a:avLst/>
          </a:prstGeom>
        </p:spPr>
        <p:txBody>
          <a:bodyPr vert="horz" lIns="91440" tIns="45720" rIns="91440" bIns="45720" rtlCol="0">
            <a:normAutofit/>
          </a:bodyPr>
          <a:lstStyle/>
          <a:p>
            <a:pPr>
              <a:lnSpc>
                <a:spcPct val="120000"/>
              </a:lnSpc>
              <a:spcAft>
                <a:spcPts val="600"/>
              </a:spcAft>
            </a:pPr>
            <a:r>
              <a:rPr lang="en-US" dirty="0"/>
              <a:t>LLMs are what drives the NLP for conversational AI. </a:t>
            </a:r>
          </a:p>
          <a:p>
            <a:pPr>
              <a:lnSpc>
                <a:spcPct val="120000"/>
              </a:lnSpc>
              <a:spcAft>
                <a:spcPts val="600"/>
              </a:spcAft>
            </a:pPr>
            <a:endParaRPr lang="en-US" dirty="0"/>
          </a:p>
          <a:p>
            <a:pPr marL="285750" indent="-285750">
              <a:lnSpc>
                <a:spcPct val="120000"/>
              </a:lnSpc>
              <a:spcAft>
                <a:spcPts val="600"/>
              </a:spcAft>
              <a:buFontTx/>
              <a:buChar char="-"/>
            </a:pPr>
            <a:r>
              <a:rPr lang="en-US" dirty="0"/>
              <a:t>Trained on massive datasets</a:t>
            </a:r>
          </a:p>
          <a:p>
            <a:pPr marL="285750" indent="-285750">
              <a:lnSpc>
                <a:spcPct val="120000"/>
              </a:lnSpc>
              <a:spcAft>
                <a:spcPts val="600"/>
              </a:spcAft>
              <a:buFontTx/>
              <a:buChar char="-"/>
            </a:pPr>
            <a:r>
              <a:rPr lang="en-US" dirty="0"/>
              <a:t>Use pattern recognition </a:t>
            </a:r>
          </a:p>
          <a:p>
            <a:pPr marL="742950" lvl="1" indent="-285750">
              <a:lnSpc>
                <a:spcPct val="120000"/>
              </a:lnSpc>
              <a:spcAft>
                <a:spcPts val="600"/>
              </a:spcAft>
              <a:buFontTx/>
              <a:buChar char="-"/>
            </a:pPr>
            <a:r>
              <a:rPr lang="en-US" dirty="0"/>
              <a:t>Does not look up responses</a:t>
            </a:r>
          </a:p>
          <a:p>
            <a:pPr marL="742950" lvl="1" indent="-285750">
              <a:lnSpc>
                <a:spcPct val="120000"/>
              </a:lnSpc>
              <a:spcAft>
                <a:spcPts val="600"/>
              </a:spcAft>
              <a:buFontTx/>
              <a:buChar char="-"/>
            </a:pPr>
            <a:r>
              <a:rPr lang="en-US" dirty="0"/>
              <a:t>More context = Better response</a:t>
            </a:r>
          </a:p>
          <a:p>
            <a:pPr lvl="1">
              <a:lnSpc>
                <a:spcPct val="120000"/>
              </a:lnSpc>
              <a:spcAft>
                <a:spcPts val="600"/>
              </a:spcAft>
            </a:pPr>
            <a:endParaRPr lang="en-US" dirty="0"/>
          </a:p>
          <a:p>
            <a:pPr marL="742950" lvl="1" indent="-285750">
              <a:lnSpc>
                <a:spcPct val="120000"/>
              </a:lnSpc>
              <a:spcAft>
                <a:spcPts val="600"/>
              </a:spcAft>
              <a:buFontTx/>
              <a:buChar char="-"/>
            </a:pPr>
            <a:endParaRPr lang="en-US" dirty="0"/>
          </a:p>
          <a:p>
            <a:pPr marL="742950" lvl="1" indent="-285750">
              <a:lnSpc>
                <a:spcPct val="120000"/>
              </a:lnSpc>
              <a:spcAft>
                <a:spcPts val="600"/>
              </a:spcAft>
              <a:buFontTx/>
              <a:buChar char="-"/>
            </a:pPr>
            <a:endParaRPr lang="en-US" dirty="0"/>
          </a:p>
          <a:p>
            <a:pPr marL="742950" lvl="1" indent="-285750">
              <a:lnSpc>
                <a:spcPct val="120000"/>
              </a:lnSpc>
              <a:spcAft>
                <a:spcPts val="600"/>
              </a:spcAft>
              <a:buFontTx/>
              <a:buChar char="-"/>
            </a:pPr>
            <a:endParaRPr lang="en-US" dirty="0"/>
          </a:p>
          <a:p>
            <a:pPr marL="742950" lvl="1" indent="-285750">
              <a:lnSpc>
                <a:spcPct val="120000"/>
              </a:lnSpc>
              <a:spcAft>
                <a:spcPts val="600"/>
              </a:spcAft>
              <a:buFontTx/>
              <a:buChar char="-"/>
            </a:pPr>
            <a:endParaRPr lang="en-US" dirty="0"/>
          </a:p>
        </p:txBody>
      </p:sp>
      <p:sp>
        <p:nvSpPr>
          <p:cNvPr id="20" name="Freeform: Shape 19">
            <a:extLst>
              <a:ext uri="{FF2B5EF4-FFF2-40B4-BE49-F238E27FC236}">
                <a16:creationId xmlns:a16="http://schemas.microsoft.com/office/drawing/2014/main" id="{583F1E3F-D7BF-4DB5-8016-70B9E385E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94726" y="-906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D0D3E7A-8DF6-4A78-A03C-86AD69746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7088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Graphic 10" descr="Server with solid fill">
            <a:extLst>
              <a:ext uri="{FF2B5EF4-FFF2-40B4-BE49-F238E27FC236}">
                <a16:creationId xmlns:a16="http://schemas.microsoft.com/office/drawing/2014/main" id="{A037C484-54D5-316A-AD2D-A8A506115CDD}"/>
              </a:ext>
            </a:extLst>
          </p:cNvPr>
          <p:cNvPicPr>
            <a:picLocks noChangeAspect="1"/>
          </p:cNvPicPr>
          <p:nvPr/>
        </p:nvPicPr>
        <p:blipFill>
          <a:blip>
            <a:extLst>
              <a:ext uri="{96DAC541-7B7A-43D3-8B79-37D633B846F1}">
                <asvg:svgBlip xmlns:asvg="http://schemas.microsoft.com/office/drawing/2016/SVG/main"/>
              </a:ext>
            </a:extLst>
          </a:blip>
          <a:stretch>
            <a:fillRect/>
          </a:stretch>
        </p:blipFill>
        <p:spPr>
          <a:xfrm>
            <a:off x="6146464" y="1034569"/>
            <a:ext cx="4788861" cy="4788861"/>
          </a:xfrm>
          <a:prstGeom prst="rect">
            <a:avLst/>
          </a:prstGeom>
        </p:spPr>
      </p:pic>
      <p:sp>
        <p:nvSpPr>
          <p:cNvPr id="12" name="TextBox 11">
            <a:extLst>
              <a:ext uri="{FF2B5EF4-FFF2-40B4-BE49-F238E27FC236}">
                <a16:creationId xmlns:a16="http://schemas.microsoft.com/office/drawing/2014/main" id="{0165381D-A9E7-4496-DB6B-F5247D03305F}"/>
              </a:ext>
            </a:extLst>
          </p:cNvPr>
          <p:cNvSpPr txBox="1"/>
          <p:nvPr/>
        </p:nvSpPr>
        <p:spPr>
          <a:xfrm>
            <a:off x="1256675" y="5786717"/>
            <a:ext cx="5896303" cy="369332"/>
          </a:xfrm>
          <a:prstGeom prst="rect">
            <a:avLst/>
          </a:prstGeom>
          <a:noFill/>
        </p:spPr>
        <p:txBody>
          <a:bodyPr wrap="square" rtlCol="0">
            <a:spAutoFit/>
          </a:bodyPr>
          <a:lstStyle/>
          <a:p>
            <a:r>
              <a:rPr lang="en-US" dirty="0"/>
              <a:t>Examples : GPT, Sonnet, </a:t>
            </a:r>
            <a:r>
              <a:rPr lang="en-US" dirty="0" err="1"/>
              <a:t>LLaMA</a:t>
            </a:r>
            <a:endParaRPr lang="en-US" dirty="0"/>
          </a:p>
        </p:txBody>
      </p:sp>
    </p:spTree>
    <p:extLst>
      <p:ext uri="{BB962C8B-B14F-4D97-AF65-F5344CB8AC3E}">
        <p14:creationId xmlns:p14="http://schemas.microsoft.com/office/powerpoint/2010/main" val="301323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CCFB-C917-2C47-6609-B4F3A769F021}"/>
              </a:ext>
            </a:extLst>
          </p:cNvPr>
          <p:cNvSpPr>
            <a:spLocks noGrp="1"/>
          </p:cNvSpPr>
          <p:nvPr>
            <p:ph type="title"/>
          </p:nvPr>
        </p:nvSpPr>
        <p:spPr>
          <a:xfrm>
            <a:off x="523706" y="135885"/>
            <a:ext cx="9950103" cy="663522"/>
          </a:xfrm>
        </p:spPr>
        <p:txBody>
          <a:bodyPr/>
          <a:lstStyle/>
          <a:p>
            <a:pPr algn="ctr"/>
            <a:r>
              <a:rPr lang="en-US" dirty="0"/>
              <a:t>Conversational AI</a:t>
            </a:r>
          </a:p>
        </p:txBody>
      </p:sp>
      <p:sp>
        <p:nvSpPr>
          <p:cNvPr id="3" name="TextBox 2">
            <a:extLst>
              <a:ext uri="{FF2B5EF4-FFF2-40B4-BE49-F238E27FC236}">
                <a16:creationId xmlns:a16="http://schemas.microsoft.com/office/drawing/2014/main" id="{EBEC7064-82F1-966B-9437-7A75AA11C6F0}"/>
              </a:ext>
            </a:extLst>
          </p:cNvPr>
          <p:cNvSpPr txBox="1"/>
          <p:nvPr/>
        </p:nvSpPr>
        <p:spPr>
          <a:xfrm>
            <a:off x="2248931" y="1037967"/>
            <a:ext cx="6499654" cy="369332"/>
          </a:xfrm>
          <a:prstGeom prst="rect">
            <a:avLst/>
          </a:prstGeom>
          <a:noFill/>
        </p:spPr>
        <p:txBody>
          <a:bodyPr wrap="square" rtlCol="0">
            <a:spAutoFit/>
          </a:bodyPr>
          <a:lstStyle/>
          <a:p>
            <a:r>
              <a:rPr lang="en-US" dirty="0"/>
              <a:t>NLP                                LLM                         Conversational AI</a:t>
            </a:r>
          </a:p>
        </p:txBody>
      </p:sp>
      <p:sp>
        <p:nvSpPr>
          <p:cNvPr id="4" name="Right Arrow 3">
            <a:extLst>
              <a:ext uri="{FF2B5EF4-FFF2-40B4-BE49-F238E27FC236}">
                <a16:creationId xmlns:a16="http://schemas.microsoft.com/office/drawing/2014/main" id="{EF4FF902-E45B-2E04-FADC-E0655411AE8D}"/>
              </a:ext>
            </a:extLst>
          </p:cNvPr>
          <p:cNvSpPr/>
          <p:nvPr/>
        </p:nvSpPr>
        <p:spPr>
          <a:xfrm>
            <a:off x="3163330" y="1160849"/>
            <a:ext cx="741405" cy="1235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a:extLst>
              <a:ext uri="{FF2B5EF4-FFF2-40B4-BE49-F238E27FC236}">
                <a16:creationId xmlns:a16="http://schemas.microsoft.com/office/drawing/2014/main" id="{6EAECF25-29F9-59AF-A53D-EF7E79187216}"/>
              </a:ext>
            </a:extLst>
          </p:cNvPr>
          <p:cNvSpPr/>
          <p:nvPr/>
        </p:nvSpPr>
        <p:spPr>
          <a:xfrm>
            <a:off x="5453449" y="1160849"/>
            <a:ext cx="741405" cy="1235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CA1816-FB91-6508-2553-A51C57840594}"/>
              </a:ext>
            </a:extLst>
          </p:cNvPr>
          <p:cNvSpPr txBox="1"/>
          <p:nvPr/>
        </p:nvSpPr>
        <p:spPr>
          <a:xfrm>
            <a:off x="1828800" y="2335427"/>
            <a:ext cx="6919785" cy="923330"/>
          </a:xfrm>
          <a:prstGeom prst="rect">
            <a:avLst/>
          </a:prstGeom>
          <a:noFill/>
        </p:spPr>
        <p:txBody>
          <a:bodyPr wrap="square" rtlCol="0">
            <a:spAutoFit/>
          </a:bodyPr>
          <a:lstStyle/>
          <a:p>
            <a:r>
              <a:rPr lang="en-US" dirty="0"/>
              <a:t>Conversational AI are the applications that result from the NLU and LLM creation. They are the system that facilitate and manage the conversation. </a:t>
            </a:r>
          </a:p>
        </p:txBody>
      </p:sp>
      <p:sp>
        <p:nvSpPr>
          <p:cNvPr id="7" name="TextBox 6">
            <a:extLst>
              <a:ext uri="{FF2B5EF4-FFF2-40B4-BE49-F238E27FC236}">
                <a16:creationId xmlns:a16="http://schemas.microsoft.com/office/drawing/2014/main" id="{FF22311A-A583-2457-70D9-0FE3FF9D66CE}"/>
              </a:ext>
            </a:extLst>
          </p:cNvPr>
          <p:cNvSpPr txBox="1"/>
          <p:nvPr/>
        </p:nvSpPr>
        <p:spPr>
          <a:xfrm>
            <a:off x="943431" y="3735878"/>
            <a:ext cx="8787214" cy="307777"/>
          </a:xfrm>
          <a:prstGeom prst="rect">
            <a:avLst/>
          </a:prstGeom>
          <a:noFill/>
        </p:spPr>
        <p:txBody>
          <a:bodyPr wrap="none" rtlCol="0">
            <a:spAutoFit/>
          </a:bodyPr>
          <a:lstStyle/>
          <a:p>
            <a:r>
              <a:rPr lang="en-US" sz="1400" i="1" dirty="0">
                <a:solidFill>
                  <a:schemeClr val="bg1">
                    <a:lumMod val="50000"/>
                  </a:schemeClr>
                </a:solidFill>
              </a:rPr>
              <a:t>Transformer is the NLP Architecture; Opus 4.5 is the LLM and My Flight Data Chatbot is the conversational AI</a:t>
            </a:r>
          </a:p>
        </p:txBody>
      </p:sp>
    </p:spTree>
    <p:extLst>
      <p:ext uri="{BB962C8B-B14F-4D97-AF65-F5344CB8AC3E}">
        <p14:creationId xmlns:p14="http://schemas.microsoft.com/office/powerpoint/2010/main" val="2217459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129E67-0078-35D8-5925-4E0D94849A59}"/>
              </a:ext>
            </a:extLst>
          </p:cNvPr>
          <p:cNvSpPr>
            <a:spLocks noGrp="1"/>
          </p:cNvSpPr>
          <p:nvPr>
            <p:ph sz="half" idx="1"/>
          </p:nvPr>
        </p:nvSpPr>
        <p:spPr>
          <a:xfrm>
            <a:off x="1077361" y="1572727"/>
            <a:ext cx="4942438" cy="1507376"/>
          </a:xfrm>
        </p:spPr>
        <p:txBody>
          <a:bodyPr>
            <a:normAutofit fontScale="85000" lnSpcReduction="20000"/>
          </a:bodyPr>
          <a:lstStyle/>
          <a:p>
            <a:pPr marL="0" indent="0" algn="ctr">
              <a:buNone/>
            </a:pPr>
            <a:r>
              <a:rPr lang="en-US" b="1" dirty="0"/>
              <a:t>PROS</a:t>
            </a:r>
            <a:r>
              <a:rPr lang="en-US" dirty="0"/>
              <a:t> </a:t>
            </a:r>
          </a:p>
          <a:p>
            <a:r>
              <a:rPr lang="en-US" dirty="0"/>
              <a:t>Flexibility in utility </a:t>
            </a:r>
          </a:p>
          <a:p>
            <a:r>
              <a:rPr lang="en-US" dirty="0"/>
              <a:t>Ease of use</a:t>
            </a:r>
          </a:p>
          <a:p>
            <a:r>
              <a:rPr lang="en-US" dirty="0"/>
              <a:t>Fast implementation</a:t>
            </a:r>
          </a:p>
        </p:txBody>
      </p:sp>
      <p:sp>
        <p:nvSpPr>
          <p:cNvPr id="4" name="Content Placeholder 3">
            <a:extLst>
              <a:ext uri="{FF2B5EF4-FFF2-40B4-BE49-F238E27FC236}">
                <a16:creationId xmlns:a16="http://schemas.microsoft.com/office/drawing/2014/main" id="{84F519FE-4B09-8875-2BB8-FC4AB6C2362B}"/>
              </a:ext>
            </a:extLst>
          </p:cNvPr>
          <p:cNvSpPr>
            <a:spLocks noGrp="1"/>
          </p:cNvSpPr>
          <p:nvPr>
            <p:ph sz="half" idx="2"/>
          </p:nvPr>
        </p:nvSpPr>
        <p:spPr>
          <a:xfrm>
            <a:off x="6172202" y="1572727"/>
            <a:ext cx="4855265" cy="1408770"/>
          </a:xfrm>
        </p:spPr>
        <p:txBody>
          <a:bodyPr>
            <a:normAutofit fontScale="85000" lnSpcReduction="20000"/>
          </a:bodyPr>
          <a:lstStyle/>
          <a:p>
            <a:pPr marL="0" indent="0" algn="ctr">
              <a:buNone/>
            </a:pPr>
            <a:r>
              <a:rPr lang="en-US" b="1" dirty="0"/>
              <a:t>CONS</a:t>
            </a:r>
          </a:p>
          <a:p>
            <a:r>
              <a:rPr lang="en-US" dirty="0"/>
              <a:t>Hallucinations</a:t>
            </a:r>
          </a:p>
          <a:p>
            <a:r>
              <a:rPr lang="en-US" dirty="0"/>
              <a:t>Struggle with human context</a:t>
            </a:r>
          </a:p>
          <a:p>
            <a:r>
              <a:rPr lang="en-US" dirty="0"/>
              <a:t>Lacks personas </a:t>
            </a:r>
          </a:p>
          <a:p>
            <a:endParaRPr lang="en-US" dirty="0"/>
          </a:p>
          <a:p>
            <a:endParaRPr lang="en-US" dirty="0"/>
          </a:p>
        </p:txBody>
      </p:sp>
      <p:sp>
        <p:nvSpPr>
          <p:cNvPr id="7" name="TextBox 6">
            <a:extLst>
              <a:ext uri="{FF2B5EF4-FFF2-40B4-BE49-F238E27FC236}">
                <a16:creationId xmlns:a16="http://schemas.microsoft.com/office/drawing/2014/main" id="{4F790D5C-3B08-E94A-E7AA-108105007BFA}"/>
              </a:ext>
            </a:extLst>
          </p:cNvPr>
          <p:cNvSpPr txBox="1"/>
          <p:nvPr/>
        </p:nvSpPr>
        <p:spPr>
          <a:xfrm>
            <a:off x="1321124" y="184820"/>
            <a:ext cx="8282151" cy="553998"/>
          </a:xfrm>
          <a:prstGeom prst="rect">
            <a:avLst/>
          </a:prstGeom>
          <a:noFill/>
        </p:spPr>
        <p:txBody>
          <a:bodyPr wrap="square" rtlCol="0">
            <a:spAutoFit/>
          </a:bodyPr>
          <a:lstStyle/>
          <a:p>
            <a:pPr algn="ctr"/>
            <a:r>
              <a:rPr lang="en-US" sz="3000" b="1" dirty="0">
                <a:latin typeface="+mj-lt"/>
              </a:rPr>
              <a:t>Anthropic Opus 4.5 LLM PROS &amp; CONS</a:t>
            </a:r>
          </a:p>
        </p:txBody>
      </p:sp>
      <p:pic>
        <p:nvPicPr>
          <p:cNvPr id="9" name="Picture 8" descr="3D face graphic">
            <a:extLst>
              <a:ext uri="{FF2B5EF4-FFF2-40B4-BE49-F238E27FC236}">
                <a16:creationId xmlns:a16="http://schemas.microsoft.com/office/drawing/2014/main" id="{E14FC02F-F3C0-1354-2177-FC54B280E379}"/>
              </a:ext>
            </a:extLst>
          </p:cNvPr>
          <p:cNvPicPr>
            <a:picLocks noChangeAspect="1"/>
          </p:cNvPicPr>
          <p:nvPr/>
        </p:nvPicPr>
        <p:blipFill>
          <a:blip/>
          <a:stretch>
            <a:fillRect/>
          </a:stretch>
        </p:blipFill>
        <p:spPr>
          <a:xfrm>
            <a:off x="3695700" y="3876504"/>
            <a:ext cx="3310581" cy="2207054"/>
          </a:xfrm>
          <a:prstGeom prst="rect">
            <a:avLst/>
          </a:prstGeom>
        </p:spPr>
      </p:pic>
    </p:spTree>
    <p:extLst>
      <p:ext uri="{BB962C8B-B14F-4D97-AF65-F5344CB8AC3E}">
        <p14:creationId xmlns:p14="http://schemas.microsoft.com/office/powerpoint/2010/main" val="327089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4FA2A6-AA51-C55C-CB48-547AE8E32176}"/>
              </a:ext>
            </a:extLst>
          </p:cNvPr>
          <p:cNvSpPr>
            <a:spLocks noGrp="1"/>
          </p:cNvSpPr>
          <p:nvPr>
            <p:ph type="title"/>
          </p:nvPr>
        </p:nvSpPr>
        <p:spPr>
          <a:xfrm>
            <a:off x="593886" y="0"/>
            <a:ext cx="9950103" cy="588579"/>
          </a:xfrm>
        </p:spPr>
        <p:txBody>
          <a:bodyPr>
            <a:normAutofit fontScale="90000"/>
          </a:bodyPr>
          <a:lstStyle/>
          <a:p>
            <a:pPr algn="ctr"/>
            <a:r>
              <a:rPr lang="en-US" dirty="0"/>
              <a:t>Airport Information Relay (AIR)</a:t>
            </a:r>
          </a:p>
        </p:txBody>
      </p:sp>
      <p:sp>
        <p:nvSpPr>
          <p:cNvPr id="9" name="TextBox 8">
            <a:extLst>
              <a:ext uri="{FF2B5EF4-FFF2-40B4-BE49-F238E27FC236}">
                <a16:creationId xmlns:a16="http://schemas.microsoft.com/office/drawing/2014/main" id="{1466D8AE-84B1-0214-512F-8315244FE954}"/>
              </a:ext>
            </a:extLst>
          </p:cNvPr>
          <p:cNvSpPr txBox="1"/>
          <p:nvPr/>
        </p:nvSpPr>
        <p:spPr>
          <a:xfrm>
            <a:off x="6450227" y="5850863"/>
            <a:ext cx="4434371" cy="276999"/>
          </a:xfrm>
          <a:prstGeom prst="rect">
            <a:avLst/>
          </a:prstGeom>
          <a:noFill/>
        </p:spPr>
        <p:txBody>
          <a:bodyPr wrap="square">
            <a:spAutoFit/>
          </a:bodyPr>
          <a:lstStyle/>
          <a:p>
            <a:endParaRPr lang="en-US" sz="1200" dirty="0"/>
          </a:p>
        </p:txBody>
      </p:sp>
      <p:pic>
        <p:nvPicPr>
          <p:cNvPr id="10" name="Picture 9">
            <a:extLst>
              <a:ext uri="{FF2B5EF4-FFF2-40B4-BE49-F238E27FC236}">
                <a16:creationId xmlns:a16="http://schemas.microsoft.com/office/drawing/2014/main" id="{4E736E25-02EF-3F69-5A10-BD47534538E3}"/>
              </a:ext>
            </a:extLst>
          </p:cNvPr>
          <p:cNvPicPr>
            <a:picLocks noChangeAspect="1"/>
          </p:cNvPicPr>
          <p:nvPr/>
        </p:nvPicPr>
        <p:blipFill>
          <a:blip/>
          <a:stretch>
            <a:fillRect/>
          </a:stretch>
        </p:blipFill>
        <p:spPr>
          <a:xfrm>
            <a:off x="5568937" y="914399"/>
            <a:ext cx="5418158" cy="4610644"/>
          </a:xfrm>
          <a:prstGeom prst="rect">
            <a:avLst/>
          </a:prstGeom>
        </p:spPr>
      </p:pic>
      <p:sp>
        <p:nvSpPr>
          <p:cNvPr id="12" name="Content Placeholder 11">
            <a:extLst>
              <a:ext uri="{FF2B5EF4-FFF2-40B4-BE49-F238E27FC236}">
                <a16:creationId xmlns:a16="http://schemas.microsoft.com/office/drawing/2014/main" id="{85D5E622-48A0-C1FC-AD5C-5B640DB06782}"/>
              </a:ext>
            </a:extLst>
          </p:cNvPr>
          <p:cNvSpPr>
            <a:spLocks noGrp="1"/>
          </p:cNvSpPr>
          <p:nvPr>
            <p:ph idx="1"/>
          </p:nvPr>
        </p:nvSpPr>
        <p:spPr>
          <a:xfrm>
            <a:off x="179706" y="820767"/>
            <a:ext cx="5174465" cy="5629460"/>
          </a:xfrm>
        </p:spPr>
        <p:txBody>
          <a:bodyPr>
            <a:normAutofit fontScale="77500" lnSpcReduction="20000"/>
          </a:bodyPr>
          <a:lstStyle/>
          <a:p>
            <a:r>
              <a:rPr lang="en-US" dirty="0"/>
              <a:t>Provides flight information for San Antonio International Airport using mock data. </a:t>
            </a:r>
          </a:p>
          <a:p>
            <a:pPr marL="0" indent="0">
              <a:buNone/>
            </a:pPr>
            <a:r>
              <a:rPr lang="en-US" b="1" u="sng" dirty="0"/>
              <a:t>Tools:</a:t>
            </a:r>
          </a:p>
          <a:p>
            <a:pPr marL="560070" lvl="1" indent="-285750">
              <a:buFont typeface="Arial" panose="020B0604020202020204" pitchFamily="34" charset="0"/>
              <a:buChar char="•"/>
            </a:pPr>
            <a:r>
              <a:rPr lang="en-US" b="0" dirty="0"/>
              <a:t>Python — programming language</a:t>
            </a:r>
          </a:p>
          <a:p>
            <a:pPr marL="560070" lvl="1" indent="-285750">
              <a:buFont typeface="Arial" panose="020B0604020202020204" pitchFamily="34" charset="0"/>
              <a:buChar char="•"/>
            </a:pPr>
            <a:r>
              <a:rPr lang="en-US" b="0" dirty="0"/>
              <a:t>Anthropic library — pip install anthropic</a:t>
            </a:r>
          </a:p>
          <a:p>
            <a:pPr marL="560070" lvl="1" indent="-285750">
              <a:buFont typeface="Arial" panose="020B0604020202020204" pitchFamily="34" charset="0"/>
              <a:buChar char="•"/>
            </a:pPr>
            <a:r>
              <a:rPr lang="en-US" b="0" dirty="0"/>
              <a:t>Anthropic API — </a:t>
            </a:r>
            <a:r>
              <a:rPr lang="en-US" b="0" dirty="0" err="1"/>
              <a:t>console.anthropic.com</a:t>
            </a:r>
            <a:endParaRPr lang="en-US" b="0" dirty="0"/>
          </a:p>
          <a:p>
            <a:pPr marL="560070" lvl="1" indent="-285750">
              <a:buFont typeface="Arial" panose="020B0604020202020204" pitchFamily="34" charset="0"/>
              <a:buChar char="•"/>
            </a:pPr>
            <a:r>
              <a:rPr lang="en-US" b="0" dirty="0" err="1"/>
              <a:t>Streamlit</a:t>
            </a:r>
            <a:r>
              <a:rPr lang="en-US" b="0" dirty="0"/>
              <a:t> library – pip install </a:t>
            </a:r>
            <a:r>
              <a:rPr lang="en-US" b="0" dirty="0" err="1"/>
              <a:t>streamlit</a:t>
            </a:r>
            <a:endParaRPr lang="en-US" dirty="0"/>
          </a:p>
          <a:p>
            <a:pPr marL="0" indent="0">
              <a:buNone/>
            </a:pPr>
            <a:r>
              <a:rPr lang="en-US" dirty="0"/>
              <a:t>Prompt:</a:t>
            </a:r>
          </a:p>
          <a:p>
            <a:pPr marL="0" indent="0">
              <a:buNone/>
            </a:pPr>
            <a:r>
              <a:rPr lang="en-US" sz="900" dirty="0"/>
              <a:t>You are a flight information desk at San Antonio International Airport (SAT). You know about flights status in both terminals. See flight data below.</a:t>
            </a:r>
          </a:p>
          <a:p>
            <a:pPr marL="0" indent="0">
              <a:buNone/>
            </a:pPr>
            <a:r>
              <a:rPr lang="en-US" sz="900" dirty="0"/>
              <a:t> You can help people locate the gate, understand if the flight is on time, late(delayed) or cancelled. You know the baggage claim locations for each flight.</a:t>
            </a:r>
          </a:p>
          <a:p>
            <a:pPr marL="0" indent="0">
              <a:buNone/>
            </a:pPr>
            <a:r>
              <a:rPr lang="en-US" sz="900" dirty="0"/>
              <a:t> You can only answer questions related to the status of flights. If someone asks anything not related to flight arrivals or departures, politely let them know you can only assist with flight information and direct them to the information desk near the TSA area.</a:t>
            </a:r>
          </a:p>
          <a:p>
            <a:pPr marL="0" indent="0">
              <a:buNone/>
            </a:pPr>
            <a:r>
              <a:rPr lang="en-US" sz="900" dirty="0"/>
              <a:t> The directory will be near the human ran  information desk.  You should be friendly to all users even if they are not nice. Many people will be dealing with the stress of travel and may not always respond kindly, that's ok.</a:t>
            </a:r>
          </a:p>
          <a:p>
            <a:pPr marL="0" indent="0">
              <a:buNone/>
            </a:pPr>
            <a:r>
              <a:rPr lang="en-US" sz="900" dirty="0"/>
              <a:t> Your job is to help them get information in a calm, polite and helpful way. Do not show your reasoning or internal thinking. Only provide the final, correct answer.</a:t>
            </a:r>
          </a:p>
          <a:p>
            <a:pPr marL="0" indent="0">
              <a:buNone/>
            </a:pPr>
            <a:r>
              <a:rPr lang="en-US" sz="900" dirty="0"/>
              <a:t> If unsure, respond clearly without speculation. When answering, be concise and direct. Do not include unnecessary explanations.</a:t>
            </a:r>
          </a:p>
          <a:p>
            <a:pPr marL="0" indent="0">
              <a:buNone/>
            </a:pPr>
            <a:r>
              <a:rPr lang="en-US" sz="900" dirty="0"/>
              <a:t> You must acknowledge if asked what languages you speak in the language asked. You will always  give flight information in the language the flight information is requested if you understand that language.</a:t>
            </a:r>
          </a:p>
          <a:p>
            <a:pPr marL="0" indent="0">
              <a:buNone/>
            </a:pPr>
            <a:r>
              <a:rPr lang="en-US" sz="900" dirty="0"/>
              <a:t> If asked where TSA  is you may say to the left just behind Ticketing area</a:t>
            </a:r>
          </a:p>
          <a:p>
            <a:pPr marL="0" indent="0">
              <a:buNone/>
            </a:pPr>
            <a:endParaRPr lang="en-US" dirty="0"/>
          </a:p>
          <a:p>
            <a:pPr marL="0" indent="0">
              <a:buNone/>
            </a:pPr>
            <a:r>
              <a:rPr lang="en-US" sz="1200" dirty="0">
                <a:hlinkClick r:id="rId2"/>
              </a:rPr>
              <a:t>https://flight-chatbot-pbnw5jhbdevjvvwhnsd7vk.streamlit.app</a:t>
            </a:r>
            <a:endParaRPr lang="en-US" sz="1200" dirty="0"/>
          </a:p>
          <a:p>
            <a:endParaRPr lang="en-US" dirty="0"/>
          </a:p>
        </p:txBody>
      </p:sp>
    </p:spTree>
    <p:extLst>
      <p:ext uri="{BB962C8B-B14F-4D97-AF65-F5344CB8AC3E}">
        <p14:creationId xmlns:p14="http://schemas.microsoft.com/office/powerpoint/2010/main" val="3269049717"/>
      </p:ext>
    </p:extLst>
  </p:cSld>
  <p:clrMapOvr>
    <a:masterClrMapping/>
  </p:clrMapOvr>
</p:sld>
</file>

<file path=ppt/theme/theme1.xml><?xml version="1.0" encoding="utf-8"?>
<a:theme xmlns:a="http://schemas.openxmlformats.org/drawingml/2006/main" name="BlocksVTI">
  <a:themeElements>
    <a:clrScheme name="Blocks">
      <a:dk1>
        <a:sysClr val="windowText" lastClr="000000"/>
      </a:dk1>
      <a:lt1>
        <a:sysClr val="window" lastClr="FFFFFF"/>
      </a:lt1>
      <a:dk2>
        <a:srgbClr val="1B3843"/>
      </a:dk2>
      <a:lt2>
        <a:srgbClr val="F2F3F1"/>
      </a:lt2>
      <a:accent1>
        <a:srgbClr val="7A8592"/>
      </a:accent1>
      <a:accent2>
        <a:srgbClr val="8C8C96"/>
      </a:accent2>
      <a:accent3>
        <a:srgbClr val="7A6C76"/>
      </a:accent3>
      <a:accent4>
        <a:srgbClr val="A7AA9D"/>
      </a:accent4>
      <a:accent5>
        <a:srgbClr val="63787F"/>
      </a:accent5>
      <a:accent6>
        <a:srgbClr val="889DA5"/>
      </a:accent6>
      <a:hlink>
        <a:srgbClr val="71819B"/>
      </a:hlink>
      <a:folHlink>
        <a:srgbClr val="7E8B85"/>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sVTI" id="{31656FE6-20D8-4105-85EA-706EC9332BE9}" vid="{039DFFC9-9B25-4063-9235-B287A446F5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413</TotalTime>
  <Words>515</Words>
  <Application>Microsoft Macintosh PowerPoint</Application>
  <PresentationFormat>Widescreen</PresentationFormat>
  <Paragraphs>56</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Avenir Next LT Pro</vt:lpstr>
      <vt:lpstr>Avenir Next LT Pro Light</vt:lpstr>
      <vt:lpstr>BlocksVTI</vt:lpstr>
      <vt:lpstr>Flight Information Chatbot</vt:lpstr>
      <vt:lpstr>What is Natural Language Processing (NLP)?</vt:lpstr>
      <vt:lpstr>What are Large Language Models (LLMs)?</vt:lpstr>
      <vt:lpstr>Conversational AI</vt:lpstr>
      <vt:lpstr>PowerPoint Presentation</vt:lpstr>
      <vt:lpstr>Airport Information Relay (AIR)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13</cp:revision>
  <dcterms:created xsi:type="dcterms:W3CDTF">2026-03-26T12:26:37Z</dcterms:created>
  <dcterms:modified xsi:type="dcterms:W3CDTF">2026-03-26T20:35:02Z</dcterms:modified>
</cp:coreProperties>
</file>